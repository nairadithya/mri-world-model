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5"/>
  </p:notesMasterIdLst>
  <p:sldIdLst>
    <p:sldId id="256" r:id="rId2"/>
    <p:sldId id="297" r:id="rId3"/>
    <p:sldId id="257" r:id="rId4"/>
    <p:sldId id="270" r:id="rId5"/>
    <p:sldId id="310" r:id="rId6"/>
    <p:sldId id="289" r:id="rId7"/>
    <p:sldId id="311" r:id="rId8"/>
    <p:sldId id="316" r:id="rId9"/>
    <p:sldId id="325" r:id="rId10"/>
    <p:sldId id="315" r:id="rId11"/>
    <p:sldId id="324" r:id="rId12"/>
    <p:sldId id="326" r:id="rId13"/>
    <p:sldId id="319" r:id="rId14"/>
    <p:sldId id="327" r:id="rId15"/>
    <p:sldId id="320" r:id="rId16"/>
    <p:sldId id="321" r:id="rId17"/>
    <p:sldId id="293" r:id="rId18"/>
    <p:sldId id="317" r:id="rId19"/>
    <p:sldId id="328" r:id="rId20"/>
    <p:sldId id="295" r:id="rId21"/>
    <p:sldId id="312" r:id="rId22"/>
    <p:sldId id="314" r:id="rId23"/>
    <p:sldId id="306" r:id="rId24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9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4" dt="2026-09-29T16:02:14.457"/>
    <p1510:client id="{034FED1C-2C55-6AF3-F4DC-9A0C69002D94}" v="301" dt="2026-09-28T11:37:00.416"/>
    <p1510:client id="{A4987317-2B19-F0C2-A3BD-100592B0B721}" v="541" dt="2026-09-29T07:47:18.63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ghna Reddy Katipally-[BL.EN.U4AID23005]" userId="S::bl.en.u4aid23005@bl.students.amrita.edu::79f96f2b-dbc7-4fa5-b3b3-84108e354db1" providerId="AD" clId="Web-{034FED1C-2C55-6AF3-F4DC-9A0C69002D94}"/>
    <pc:docChg chg="addSld delSld modSld sldOrd">
      <pc:chgData name="Avighna Reddy Katipally-[BL.EN.U4AID23005]" userId="S::bl.en.u4aid23005@bl.students.amrita.edu::79f96f2b-dbc7-4fa5-b3b3-84108e354db1" providerId="AD" clId="Web-{034FED1C-2C55-6AF3-F4DC-9A0C69002D94}" dt="2026-09-28T11:37:00.416" v="254" actId="1076"/>
      <pc:docMkLst>
        <pc:docMk/>
      </pc:docMkLst>
      <pc:sldChg chg="modSp">
        <pc:chgData name="Avighna Reddy Katipally-[BL.EN.U4AID23005]" userId="S::bl.en.u4aid23005@bl.students.amrita.edu::79f96f2b-dbc7-4fa5-b3b3-84108e354db1" providerId="AD" clId="Web-{034FED1C-2C55-6AF3-F4DC-9A0C69002D94}" dt="2026-09-28T05:48:52.231" v="2" actId="20577"/>
        <pc:sldMkLst>
          <pc:docMk/>
          <pc:sldMk cId="0" sldId="256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5:48:52.231" v="2" actId="20577"/>
          <ac:spMkLst>
            <pc:docMk/>
            <pc:sldMk cId="0" sldId="256"/>
            <ac:spMk id="131" creationId="{00000000-0000-0000-0000-000000000000}"/>
          </ac:spMkLst>
        </pc:spChg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10:59:32.469" v="209" actId="20577"/>
        <pc:sldMkLst>
          <pc:docMk/>
          <pc:sldMk cId="0" sldId="257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0:59:32.469" v="209" actId="20577"/>
          <ac:spMkLst>
            <pc:docMk/>
            <pc:sldMk cId="0" sldId="257"/>
            <ac:spMk id="141" creationId="{00000000-0000-0000-0000-000000000000}"/>
          </ac:spMkLst>
        </pc:spChg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7:29.793" v="9"/>
        <pc:sldMkLst>
          <pc:docMk/>
          <pc:sldMk cId="0" sldId="259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1:00.527" v="51"/>
        <pc:sldMkLst>
          <pc:docMk/>
          <pc:sldMk cId="0" sldId="264"/>
        </pc:sldMkLst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10:59:22.406" v="201" actId="20577"/>
        <pc:sldMkLst>
          <pc:docMk/>
          <pc:sldMk cId="918418832" sldId="270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0:58:30.702" v="189" actId="20577"/>
          <ac:spMkLst>
            <pc:docMk/>
            <pc:sldMk cId="918418832" sldId="270"/>
            <ac:spMk id="3" creationId="{00000000-0000-0000-0000-000000000000}"/>
          </ac:spMkLst>
        </pc:spChg>
        <pc:spChg chg="mod">
          <ac:chgData name="Avighna Reddy Katipally-[BL.EN.U4AID23005]" userId="S::bl.en.u4aid23005@bl.students.amrita.edu::79f96f2b-dbc7-4fa5-b3b3-84108e354db1" providerId="AD" clId="Web-{034FED1C-2C55-6AF3-F4DC-9A0C69002D94}" dt="2026-09-28T10:59:22.406" v="201" actId="20577"/>
          <ac:spMkLst>
            <pc:docMk/>
            <pc:sldMk cId="918418832" sldId="270"/>
            <ac:spMk id="4" creationId="{00000000-0000-0000-0000-000000000000}"/>
          </ac:spMkLst>
        </pc:spChg>
      </pc:sldChg>
      <pc:sldChg chg="modSp del">
        <pc:chgData name="Avighna Reddy Katipally-[BL.EN.U4AID23005]" userId="S::bl.en.u4aid23005@bl.students.amrita.edu::79f96f2b-dbc7-4fa5-b3b3-84108e354db1" providerId="AD" clId="Web-{034FED1C-2C55-6AF3-F4DC-9A0C69002D94}" dt="2026-09-28T06:57:12.165" v="127"/>
        <pc:sldMkLst>
          <pc:docMk/>
          <pc:sldMk cId="3207744249" sldId="284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7:10.165" v="126" actId="20577"/>
          <ac:spMkLst>
            <pc:docMk/>
            <pc:sldMk cId="3207744249" sldId="284"/>
            <ac:spMk id="4" creationId="{5AF6FA9B-9E1F-00AE-1880-D84A8F8B6E62}"/>
          </ac:spMkLst>
        </pc:spChg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1:09.042" v="54"/>
        <pc:sldMkLst>
          <pc:docMk/>
          <pc:sldMk cId="2416529429" sldId="287"/>
        </pc:sldMkLst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11:06:35.531" v="218" actId="20577"/>
        <pc:sldMkLst>
          <pc:docMk/>
          <pc:sldMk cId="848068069" sldId="289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1:06:35.531" v="218" actId="20577"/>
          <ac:spMkLst>
            <pc:docMk/>
            <pc:sldMk cId="848068069" sldId="289"/>
            <ac:spMk id="4" creationId="{00000000-0000-0000-0000-000000000000}"/>
          </ac:spMkLst>
        </pc:spChg>
      </pc:sldChg>
      <pc:sldChg chg="ord">
        <pc:chgData name="Avighna Reddy Katipally-[BL.EN.U4AID23005]" userId="S::bl.en.u4aid23005@bl.students.amrita.edu::79f96f2b-dbc7-4fa5-b3b3-84108e354db1" providerId="AD" clId="Web-{034FED1C-2C55-6AF3-F4DC-9A0C69002D94}" dt="2026-09-28T06:57:30.447" v="129"/>
        <pc:sldMkLst>
          <pc:docMk/>
          <pc:sldMk cId="2290172774" sldId="293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1:06.527" v="53"/>
        <pc:sldMkLst>
          <pc:docMk/>
          <pc:sldMk cId="1207617698" sldId="294"/>
        </pc:sldMkLst>
      </pc:sldChg>
      <pc:sldChg chg="add del">
        <pc:chgData name="Avighna Reddy Katipally-[BL.EN.U4AID23005]" userId="S::bl.en.u4aid23005@bl.students.amrita.edu::79f96f2b-dbc7-4fa5-b3b3-84108e354db1" providerId="AD" clId="Web-{034FED1C-2C55-6AF3-F4DC-9A0C69002D94}" dt="2026-09-28T06:52:09.042" v="69"/>
        <pc:sldMkLst>
          <pc:docMk/>
          <pc:sldMk cId="1875211888" sldId="295"/>
        </pc:sldMkLst>
      </pc:sldChg>
      <pc:sldChg chg="modSp del">
        <pc:chgData name="Avighna Reddy Katipally-[BL.EN.U4AID23005]" userId="S::bl.en.u4aid23005@bl.students.amrita.edu::79f96f2b-dbc7-4fa5-b3b3-84108e354db1" providerId="AD" clId="Web-{034FED1C-2C55-6AF3-F4DC-9A0C69002D94}" dt="2026-09-28T06:57:15.478" v="128"/>
        <pc:sldMkLst>
          <pc:docMk/>
          <pc:sldMk cId="3181827843" sldId="296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1:26.542" v="63" actId="20577"/>
          <ac:spMkLst>
            <pc:docMk/>
            <pc:sldMk cId="3181827843" sldId="296"/>
            <ac:spMk id="3" creationId="{A952378B-D46F-88F6-E6B5-A939B3714CA6}"/>
          </ac:spMkLst>
        </pc:spChg>
        <pc:spChg chg="mod">
          <ac:chgData name="Avighna Reddy Katipally-[BL.EN.U4AID23005]" userId="S::bl.en.u4aid23005@bl.students.amrita.edu::79f96f2b-dbc7-4fa5-b3b3-84108e354db1" providerId="AD" clId="Web-{034FED1C-2C55-6AF3-F4DC-9A0C69002D94}" dt="2026-09-28T06:51:24.058" v="62" actId="20577"/>
          <ac:spMkLst>
            <pc:docMk/>
            <pc:sldMk cId="3181827843" sldId="296"/>
            <ac:spMk id="4" creationId="{8FC8B824-A607-F0BA-61F1-6F8A38484007}"/>
          </ac:spMkLst>
        </pc:spChg>
      </pc:sldChg>
      <pc:sldChg chg="delSp">
        <pc:chgData name="Avighna Reddy Katipally-[BL.EN.U4AID23005]" userId="S::bl.en.u4aid23005@bl.students.amrita.edu::79f96f2b-dbc7-4fa5-b3b3-84108e354db1" providerId="AD" clId="Web-{034FED1C-2C55-6AF3-F4DC-9A0C69002D94}" dt="2026-09-28T05:51:48.449" v="3"/>
        <pc:sldMkLst>
          <pc:docMk/>
          <pc:sldMk cId="2232838605" sldId="297"/>
        </pc:sldMkLst>
        <pc:picChg chg="del">
          <ac:chgData name="Avighna Reddy Katipally-[BL.EN.U4AID23005]" userId="S::bl.en.u4aid23005@bl.students.amrita.edu::79f96f2b-dbc7-4fa5-b3b3-84108e354db1" providerId="AD" clId="Web-{034FED1C-2C55-6AF3-F4DC-9A0C69002D94}" dt="2026-09-28T05:51:48.449" v="3"/>
          <ac:picMkLst>
            <pc:docMk/>
            <pc:sldMk cId="2232838605" sldId="297"/>
            <ac:picMk id="7" creationId="{9BA999DB-C77F-A16C-694A-FB17B198AA29}"/>
          </ac:picMkLst>
        </pc:picChg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5:01.934" v="7"/>
        <pc:sldMkLst>
          <pc:docMk/>
          <pc:sldMk cId="2947139166" sldId="298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5:00.856" v="6"/>
        <pc:sldMkLst>
          <pc:docMk/>
          <pc:sldMk cId="2518241384" sldId="299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4:58.544" v="4"/>
        <pc:sldMkLst>
          <pc:docMk/>
          <pc:sldMk cId="2746090252" sldId="300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2:04.354" v="67"/>
        <pc:sldMkLst>
          <pc:docMk/>
          <pc:sldMk cId="2960150674" sldId="301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1:56.808" v="65"/>
        <pc:sldMkLst>
          <pc:docMk/>
          <pc:sldMk cId="2869764337" sldId="302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2:02.526" v="66"/>
        <pc:sldMkLst>
          <pc:docMk/>
          <pc:sldMk cId="1332138524" sldId="303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1:01.105" v="52"/>
        <pc:sldMkLst>
          <pc:docMk/>
          <pc:sldMk cId="2994487319" sldId="305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5:03.684" v="8"/>
        <pc:sldMkLst>
          <pc:docMk/>
          <pc:sldMk cId="19591407" sldId="307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4:59.466" v="5"/>
        <pc:sldMkLst>
          <pc:docMk/>
          <pc:sldMk cId="199921149" sldId="308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10:54:38.084" v="174"/>
        <pc:sldMkLst>
          <pc:docMk/>
          <pc:sldMk cId="105470884" sldId="309"/>
        </pc:sldMkLst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10:59:11.109" v="198" actId="20577"/>
        <pc:sldMkLst>
          <pc:docMk/>
          <pc:sldMk cId="1564702952" sldId="310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0:54:37.319" v="173" actId="20577"/>
          <ac:spMkLst>
            <pc:docMk/>
            <pc:sldMk cId="1564702952" sldId="310"/>
            <ac:spMk id="3" creationId="{7FCF45ED-7D8C-E63E-9583-0ED6A523DBE0}"/>
          </ac:spMkLst>
        </pc:spChg>
        <pc:spChg chg="mod">
          <ac:chgData name="Avighna Reddy Katipally-[BL.EN.U4AID23005]" userId="S::bl.en.u4aid23005@bl.students.amrita.edu::79f96f2b-dbc7-4fa5-b3b3-84108e354db1" providerId="AD" clId="Web-{034FED1C-2C55-6AF3-F4DC-9A0C69002D94}" dt="2026-09-28T10:59:11.109" v="198" actId="20577"/>
          <ac:spMkLst>
            <pc:docMk/>
            <pc:sldMk cId="1564702952" sldId="310"/>
            <ac:spMk id="4" creationId="{9EE564B6-80B7-8CF4-B2D0-6D31827E6323}"/>
          </ac:spMkLst>
        </pc:spChg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10:59:44.048" v="216" actId="20577"/>
        <pc:sldMkLst>
          <pc:docMk/>
          <pc:sldMk cId="848014423" sldId="311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0:59:44.048" v="216" actId="20577"/>
          <ac:spMkLst>
            <pc:docMk/>
            <pc:sldMk cId="848014423" sldId="311"/>
            <ac:spMk id="3" creationId="{59B481D6-A639-A872-074C-77DD68D5CFAA}"/>
          </ac:spMkLst>
        </pc:spChg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9:20.652" v="39"/>
        <pc:sldMkLst>
          <pc:docMk/>
          <pc:sldMk cId="4001956870" sldId="313"/>
        </pc:sldMkLst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06:51:37.745" v="64" actId="20577"/>
        <pc:sldMkLst>
          <pc:docMk/>
          <pc:sldMk cId="2973782613" sldId="314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1:37.745" v="64" actId="20577"/>
          <ac:spMkLst>
            <pc:docMk/>
            <pc:sldMk cId="2973782613" sldId="314"/>
            <ac:spMk id="3" creationId="{1158B15E-E685-CCFA-D71E-0B33C9CAC34A}"/>
          </ac:spMkLst>
        </pc:spChg>
      </pc:sldChg>
      <pc:sldChg chg="modSp add ord replId">
        <pc:chgData name="Avighna Reddy Katipally-[BL.EN.U4AID23005]" userId="S::bl.en.u4aid23005@bl.students.amrita.edu::79f96f2b-dbc7-4fa5-b3b3-84108e354db1" providerId="AD" clId="Web-{034FED1C-2C55-6AF3-F4DC-9A0C69002D94}" dt="2026-09-28T11:37:00.416" v="254" actId="1076"/>
        <pc:sldMkLst>
          <pc:docMk/>
          <pc:sldMk cId="1409853049" sldId="315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1:08:18.518" v="232" actId="20577"/>
          <ac:spMkLst>
            <pc:docMk/>
            <pc:sldMk cId="1409853049" sldId="315"/>
            <ac:spMk id="3" creationId="{286CE50A-FA4A-6AA2-1C2C-D03B77D34F64}"/>
          </ac:spMkLst>
        </pc:spChg>
        <pc:spChg chg="mod">
          <ac:chgData name="Avighna Reddy Katipally-[BL.EN.U4AID23005]" userId="S::bl.en.u4aid23005@bl.students.amrita.edu::79f96f2b-dbc7-4fa5-b3b3-84108e354db1" providerId="AD" clId="Web-{034FED1C-2C55-6AF3-F4DC-9A0C69002D94}" dt="2026-09-28T11:37:00.416" v="254" actId="1076"/>
          <ac:spMkLst>
            <pc:docMk/>
            <pc:sldMk cId="1409853049" sldId="315"/>
            <ac:spMk id="4" creationId="{49818139-5FDB-22BF-EC16-4B74E0442215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034FED1C-2C55-6AF3-F4DC-9A0C69002D94}" dt="2026-09-28T06:50:44.402" v="49" actId="20577"/>
        <pc:sldMkLst>
          <pc:docMk/>
          <pc:sldMk cId="1779218547" sldId="316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0:44.402" v="49" actId="20577"/>
          <ac:spMkLst>
            <pc:docMk/>
            <pc:sldMk cId="1779218547" sldId="316"/>
            <ac:spMk id="3" creationId="{401E0A63-0618-F4EB-B971-2D181C2D4209}"/>
          </ac:spMkLst>
        </pc:spChg>
      </pc:sldChg>
      <pc:sldChg chg="new">
        <pc:chgData name="Avighna Reddy Katipally-[BL.EN.U4AID23005]" userId="S::bl.en.u4aid23005@bl.students.amrita.edu::79f96f2b-dbc7-4fa5-b3b3-84108e354db1" providerId="AD" clId="Web-{034FED1C-2C55-6AF3-F4DC-9A0C69002D94}" dt="2026-09-28T06:50:51.371" v="50"/>
        <pc:sldMkLst>
          <pc:docMk/>
          <pc:sldMk cId="94292175" sldId="317"/>
        </pc:sldMkLst>
      </pc:sldChg>
      <pc:sldChg chg="modSp add replId">
        <pc:chgData name="Avighna Reddy Katipally-[BL.EN.U4AID23005]" userId="S::bl.en.u4aid23005@bl.students.amrita.edu::79f96f2b-dbc7-4fa5-b3b3-84108e354db1" providerId="AD" clId="Web-{034FED1C-2C55-6AF3-F4DC-9A0C69002D94}" dt="2026-09-28T06:52:37.370" v="71" actId="20577"/>
        <pc:sldMkLst>
          <pc:docMk/>
          <pc:sldMk cId="413279263" sldId="318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2:37.370" v="71" actId="20577"/>
          <ac:spMkLst>
            <pc:docMk/>
            <pc:sldMk cId="413279263" sldId="318"/>
            <ac:spMk id="3" creationId="{EFB99D44-421C-8D58-D626-2A81539B4C0B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034FED1C-2C55-6AF3-F4DC-9A0C69002D94}" dt="2026-09-28T06:53:54.963" v="76" actId="20577"/>
        <pc:sldMkLst>
          <pc:docMk/>
          <pc:sldMk cId="341675362" sldId="319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3:54.963" v="76" actId="20577"/>
          <ac:spMkLst>
            <pc:docMk/>
            <pc:sldMk cId="341675362" sldId="319"/>
            <ac:spMk id="3" creationId="{CBE65D63-73D6-5944-5FC5-CBF197755963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034FED1C-2C55-6AF3-F4DC-9A0C69002D94}" dt="2026-09-28T06:55:25.588" v="119" actId="20577"/>
        <pc:sldMkLst>
          <pc:docMk/>
          <pc:sldMk cId="3412480603" sldId="320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5:25.588" v="119" actId="20577"/>
          <ac:spMkLst>
            <pc:docMk/>
            <pc:sldMk cId="3412480603" sldId="320"/>
            <ac:spMk id="3" creationId="{105520A5-2066-185F-C693-67CA2F1847A4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034FED1C-2C55-6AF3-F4DC-9A0C69002D94}" dt="2026-09-28T06:55:37.275" v="124" actId="20577"/>
        <pc:sldMkLst>
          <pc:docMk/>
          <pc:sldMk cId="1122498042" sldId="321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5:37.275" v="124" actId="20577"/>
          <ac:spMkLst>
            <pc:docMk/>
            <pc:sldMk cId="1122498042" sldId="321"/>
            <ac:spMk id="3" creationId="{18F66F38-C3E8-205A-1B82-88401FCBC14E}"/>
          </ac:spMkLst>
        </pc:spChg>
      </pc:sldChg>
    </pc:docChg>
  </pc:docChgLst>
  <pc:docChgLst>
    <pc:chgData name="Avighna Reddy Katipally-[BL.EN.U4AID23005]" userId="S::bl.en.u4aid23005@bl.students.amrita.edu::79f96f2b-dbc7-4fa5-b3b3-84108e354db1" providerId="AD" clId="Web-{A4987317-2B19-F0C2-A3BD-100592B0B721}"/>
    <pc:docChg chg="addSld delSld modSld sldOrd">
      <pc:chgData name="Avighna Reddy Katipally-[BL.EN.U4AID23005]" userId="S::bl.en.u4aid23005@bl.students.amrita.edu::79f96f2b-dbc7-4fa5-b3b3-84108e354db1" providerId="AD" clId="Web-{A4987317-2B19-F0C2-A3BD-100592B0B721}" dt="2026-09-29T07:47:18.636" v="332"/>
      <pc:docMkLst>
        <pc:docMk/>
      </pc:docMkLst>
      <pc:sldChg chg="modSp">
        <pc:chgData name="Avighna Reddy Katipally-[BL.EN.U4AID23005]" userId="S::bl.en.u4aid23005@bl.students.amrita.edu::79f96f2b-dbc7-4fa5-b3b3-84108e354db1" providerId="AD" clId="Web-{A4987317-2B19-F0C2-A3BD-100592B0B721}" dt="2026-09-29T07:06:28.652" v="5" actId="20577"/>
        <pc:sldMkLst>
          <pc:docMk/>
          <pc:sldMk cId="1564702952" sldId="310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06:28.652" v="5" actId="20577"/>
          <ac:spMkLst>
            <pc:docMk/>
            <pc:sldMk cId="1564702952" sldId="310"/>
            <ac:spMk id="4" creationId="{9EE564B6-80B7-8CF4-B2D0-6D31827E6323}"/>
          </ac:spMkLst>
        </pc:spChg>
      </pc:sldChg>
      <pc:sldChg chg="modSp ord">
        <pc:chgData name="Avighna Reddy Katipally-[BL.EN.U4AID23005]" userId="S::bl.en.u4aid23005@bl.students.amrita.edu::79f96f2b-dbc7-4fa5-b3b3-84108e354db1" providerId="AD" clId="Web-{A4987317-2B19-F0C2-A3BD-100592B0B721}" dt="2026-09-29T07:34:32.417" v="273" actId="1076"/>
        <pc:sldMkLst>
          <pc:docMk/>
          <pc:sldMk cId="1409853049" sldId="315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34:20.699" v="270" actId="1076"/>
          <ac:spMkLst>
            <pc:docMk/>
            <pc:sldMk cId="1409853049" sldId="315"/>
            <ac:spMk id="3" creationId="{286CE50A-FA4A-6AA2-1C2C-D03B77D34F64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34:32.417" v="273" actId="1076"/>
          <ac:spMkLst>
            <pc:docMk/>
            <pc:sldMk cId="1409853049" sldId="315"/>
            <ac:spMk id="4" creationId="{49818139-5FDB-22BF-EC16-4B74E0442215}"/>
          </ac:spMkLst>
        </pc:spChg>
      </pc:sldChg>
      <pc:sldChg chg="modSp ord">
        <pc:chgData name="Avighna Reddy Katipally-[BL.EN.U4AID23005]" userId="S::bl.en.u4aid23005@bl.students.amrita.edu::79f96f2b-dbc7-4fa5-b3b3-84108e354db1" providerId="AD" clId="Web-{A4987317-2B19-F0C2-A3BD-100592B0B721}" dt="2026-09-29T07:09:32.152" v="57"/>
        <pc:sldMkLst>
          <pc:docMk/>
          <pc:sldMk cId="1779218547" sldId="316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09:24.324" v="56" actId="20577"/>
          <ac:spMkLst>
            <pc:docMk/>
            <pc:sldMk cId="1779218547" sldId="316"/>
            <ac:spMk id="4" creationId="{FD934C9C-4A6D-BF20-FC78-A455178B91DF}"/>
          </ac:spMkLst>
        </pc:spChg>
      </pc:sldChg>
      <pc:sldChg chg="del">
        <pc:chgData name="Avighna Reddy Katipally-[BL.EN.U4AID23005]" userId="S::bl.en.u4aid23005@bl.students.amrita.edu::79f96f2b-dbc7-4fa5-b3b3-84108e354db1" providerId="AD" clId="Web-{A4987317-2B19-F0C2-A3BD-100592B0B721}" dt="2026-09-29T07:25:44.339" v="166"/>
        <pc:sldMkLst>
          <pc:docMk/>
          <pc:sldMk cId="413279263" sldId="318"/>
        </pc:sldMkLst>
      </pc:sldChg>
      <pc:sldChg chg="modSp">
        <pc:chgData name="Avighna Reddy Katipally-[BL.EN.U4AID23005]" userId="S::bl.en.u4aid23005@bl.students.amrita.edu::79f96f2b-dbc7-4fa5-b3b3-84108e354db1" providerId="AD" clId="Web-{A4987317-2B19-F0C2-A3BD-100592B0B721}" dt="2026-09-29T07:42:32.527" v="314" actId="20577"/>
        <pc:sldMkLst>
          <pc:docMk/>
          <pc:sldMk cId="341675362" sldId="319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42:32.527" v="314" actId="20577"/>
          <ac:spMkLst>
            <pc:docMk/>
            <pc:sldMk cId="341675362" sldId="319"/>
            <ac:spMk id="3" creationId="{CBE65D63-73D6-5944-5FC5-CBF197755963}"/>
          </ac:spMkLst>
        </pc:spChg>
      </pc:sldChg>
      <pc:sldChg chg="modSp">
        <pc:chgData name="Avighna Reddy Katipally-[BL.EN.U4AID23005]" userId="S::bl.en.u4aid23005@bl.students.amrita.edu::79f96f2b-dbc7-4fa5-b3b3-84108e354db1" providerId="AD" clId="Web-{A4987317-2B19-F0C2-A3BD-100592B0B721}" dt="2026-09-29T07:43:09.621" v="331" actId="20577"/>
        <pc:sldMkLst>
          <pc:docMk/>
          <pc:sldMk cId="3412480603" sldId="320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42:59.105" v="323" actId="20577"/>
          <ac:spMkLst>
            <pc:docMk/>
            <pc:sldMk cId="3412480603" sldId="320"/>
            <ac:spMk id="3" creationId="{105520A5-2066-185F-C693-67CA2F1847A4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43:09.621" v="331" actId="20577"/>
          <ac:spMkLst>
            <pc:docMk/>
            <pc:sldMk cId="3412480603" sldId="320"/>
            <ac:spMk id="4" creationId="{64947E73-547E-45C5-374B-80087D21B9A1}"/>
          </ac:spMkLst>
        </pc:spChg>
      </pc:sldChg>
      <pc:sldChg chg="modSp add del replId">
        <pc:chgData name="Avighna Reddy Katipally-[BL.EN.U4AID23005]" userId="S::bl.en.u4aid23005@bl.students.amrita.edu::79f96f2b-dbc7-4fa5-b3b3-84108e354db1" providerId="AD" clId="Web-{A4987317-2B19-F0C2-A3BD-100592B0B721}" dt="2026-09-29T07:29:03.777" v="214"/>
        <pc:sldMkLst>
          <pc:docMk/>
          <pc:sldMk cId="2628290944" sldId="322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17:08.699" v="75" actId="20577"/>
          <ac:spMkLst>
            <pc:docMk/>
            <pc:sldMk cId="2628290944" sldId="322"/>
            <ac:spMk id="3" creationId="{8154662C-5931-D82E-0A17-429BB02487FE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23:35.214" v="160" actId="20577"/>
          <ac:spMkLst>
            <pc:docMk/>
            <pc:sldMk cId="2628290944" sldId="322"/>
            <ac:spMk id="4" creationId="{C68EB01A-90F1-4ADE-598A-36044225000A}"/>
          </ac:spMkLst>
        </pc:spChg>
      </pc:sldChg>
      <pc:sldChg chg="modSp add del replId">
        <pc:chgData name="Avighna Reddy Katipally-[BL.EN.U4AID23005]" userId="S::bl.en.u4aid23005@bl.students.amrita.edu::79f96f2b-dbc7-4fa5-b3b3-84108e354db1" providerId="AD" clId="Web-{A4987317-2B19-F0C2-A3BD-100592B0B721}" dt="2026-09-29T07:40:23.933" v="293"/>
        <pc:sldMkLst>
          <pc:docMk/>
          <pc:sldMk cId="3977292861" sldId="323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26:06.652" v="174" actId="20577"/>
          <ac:spMkLst>
            <pc:docMk/>
            <pc:sldMk cId="3977292861" sldId="323"/>
            <ac:spMk id="3" creationId="{8DFF9A90-C897-61B0-554C-59C04889D55A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40:19.152" v="292" actId="20577"/>
          <ac:spMkLst>
            <pc:docMk/>
            <pc:sldMk cId="3977292861" sldId="323"/>
            <ac:spMk id="4" creationId="{5A4FE34A-3787-E514-FE15-8E289B8E369F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A4987317-2B19-F0C2-A3BD-100592B0B721}" dt="2026-09-29T07:33:52.855" v="262" actId="20577"/>
        <pc:sldMkLst>
          <pc:docMk/>
          <pc:sldMk cId="1318611863" sldId="324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31:41.464" v="231" actId="20577"/>
          <ac:spMkLst>
            <pc:docMk/>
            <pc:sldMk cId="1318611863" sldId="324"/>
            <ac:spMk id="3" creationId="{8F367CE6-1F84-1019-054B-665FAC68E0C5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33:52.855" v="262" actId="20577"/>
          <ac:spMkLst>
            <pc:docMk/>
            <pc:sldMk cId="1318611863" sldId="324"/>
            <ac:spMk id="4" creationId="{E74F0673-A78A-2FE7-99E9-EFD16F025945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A4987317-2B19-F0C2-A3BD-100592B0B721}" dt="2026-09-29T07:31:55.183" v="236" actId="20577"/>
        <pc:sldMkLst>
          <pc:docMk/>
          <pc:sldMk cId="3468182392" sldId="325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27:56.449" v="196" actId="20577"/>
          <ac:spMkLst>
            <pc:docMk/>
            <pc:sldMk cId="3468182392" sldId="325"/>
            <ac:spMk id="3" creationId="{3E226370-FD32-27DD-DF96-735FC47C7227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31:55.183" v="236" actId="20577"/>
          <ac:spMkLst>
            <pc:docMk/>
            <pc:sldMk cId="3468182392" sldId="325"/>
            <ac:spMk id="4" creationId="{62C3BC10-B2AC-CBD8-403F-92FD30F50044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A4987317-2B19-F0C2-A3BD-100592B0B721}" dt="2026-09-29T07:41:47.542" v="306" actId="20577"/>
        <pc:sldMkLst>
          <pc:docMk/>
          <pc:sldMk cId="1495339062" sldId="326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41:47.542" v="306" actId="20577"/>
          <ac:spMkLst>
            <pc:docMk/>
            <pc:sldMk cId="1495339062" sldId="326"/>
            <ac:spMk id="4" creationId="{DEC58019-BB7D-BB99-427F-5AB502D22128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A4987317-2B19-F0C2-A3BD-100592B0B721}" dt="2026-09-29T07:42:46.839" v="316" actId="20577"/>
        <pc:sldMkLst>
          <pc:docMk/>
          <pc:sldMk cId="2210272284" sldId="327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42:46.839" v="316" actId="20577"/>
          <ac:spMkLst>
            <pc:docMk/>
            <pc:sldMk cId="2210272284" sldId="327"/>
            <ac:spMk id="3" creationId="{40FCDAE6-2739-4460-8C31-07EEA0F2E5BB}"/>
          </ac:spMkLst>
        </pc:spChg>
      </pc:sldChg>
      <pc:sldChg chg="add replId">
        <pc:chgData name="Avighna Reddy Katipally-[BL.EN.U4AID23005]" userId="S::bl.en.u4aid23005@bl.students.amrita.edu::79f96f2b-dbc7-4fa5-b3b3-84108e354db1" providerId="AD" clId="Web-{A4987317-2B19-F0C2-A3BD-100592B0B721}" dt="2026-09-29T07:47:18.636" v="332"/>
        <pc:sldMkLst>
          <pc:docMk/>
          <pc:sldMk cId="1059205436" sldId="328"/>
        </pc:sldMkLst>
      </pc:sldChg>
    </pc:docChg>
  </pc:docChgLst>
  <pc:docChgLst>
    <pc:chgData name="Avighna Reddy Katipally-[BL.EN.U4AID23005]" userId="S::bl.en.u4aid23005@bl.students.amrita.edu::79f96f2b-dbc7-4fa5-b3b3-84108e354db1" providerId="AD" clId="Web-{00000000-0000-0000-0000-000000000000}"/>
    <pc:docChg chg="delSld modSld">
      <pc:chgData name="Avighna Reddy Katipally-[BL.EN.U4AID23005]" userId="S::bl.en.u4aid23005@bl.students.amrita.edu::79f96f2b-dbc7-4fa5-b3b3-84108e354db1" providerId="AD" clId="Web-{00000000-0000-0000-0000-000000000000}" dt="2026-09-29T16:02:14.457" v="12"/>
      <pc:docMkLst>
        <pc:docMk/>
      </pc:docMkLst>
      <pc:sldChg chg="del">
        <pc:chgData name="Avighna Reddy Katipally-[BL.EN.U4AID23005]" userId="S::bl.en.u4aid23005@bl.students.amrita.edu::79f96f2b-dbc7-4fa5-b3b3-84108e354db1" providerId="AD" clId="Web-{00000000-0000-0000-0000-000000000000}" dt="2026-09-29T16:02:14.457" v="12"/>
        <pc:sldMkLst>
          <pc:docMk/>
          <pc:sldMk cId="1087007197" sldId="304"/>
        </pc:sldMkLst>
      </pc:sldChg>
      <pc:sldChg chg="modSp">
        <pc:chgData name="Avighna Reddy Katipally-[BL.EN.U4AID23005]" userId="S::bl.en.u4aid23005@bl.students.amrita.edu::79f96f2b-dbc7-4fa5-b3b3-84108e354db1" providerId="AD" clId="Web-{00000000-0000-0000-0000-000000000000}" dt="2026-09-29T15:57:02.229" v="2" actId="20577"/>
        <pc:sldMkLst>
          <pc:docMk/>
          <pc:sldMk cId="341675362" sldId="319"/>
        </pc:sldMkLst>
        <pc:spChg chg="mod">
          <ac:chgData name="Avighna Reddy Katipally-[BL.EN.U4AID23005]" userId="S::bl.en.u4aid23005@bl.students.amrita.edu::79f96f2b-dbc7-4fa5-b3b3-84108e354db1" providerId="AD" clId="Web-{00000000-0000-0000-0000-000000000000}" dt="2026-09-29T15:57:02.229" v="2" actId="20577"/>
          <ac:spMkLst>
            <pc:docMk/>
            <pc:sldMk cId="341675362" sldId="319"/>
            <ac:spMk id="4" creationId="{FC98B429-17CF-6F71-6BDD-E809354001DE}"/>
          </ac:spMkLst>
        </pc:spChg>
      </pc:sldChg>
      <pc:sldChg chg="modSp">
        <pc:chgData name="Avighna Reddy Katipally-[BL.EN.U4AID23005]" userId="S::bl.en.u4aid23005@bl.students.amrita.edu::79f96f2b-dbc7-4fa5-b3b3-84108e354db1" providerId="AD" clId="Web-{00000000-0000-0000-0000-000000000000}" dt="2026-09-29T15:57:27.199" v="11" actId="20577"/>
        <pc:sldMkLst>
          <pc:docMk/>
          <pc:sldMk cId="1122498042" sldId="321"/>
        </pc:sldMkLst>
        <pc:spChg chg="mod">
          <ac:chgData name="Avighna Reddy Katipally-[BL.EN.U4AID23005]" userId="S::bl.en.u4aid23005@bl.students.amrita.edu::79f96f2b-dbc7-4fa5-b3b3-84108e354db1" providerId="AD" clId="Web-{00000000-0000-0000-0000-000000000000}" dt="2026-09-29T15:57:27.199" v="11" actId="20577"/>
          <ac:spMkLst>
            <pc:docMk/>
            <pc:sldMk cId="1122498042" sldId="321"/>
            <ac:spMk id="4" creationId="{7E3F7D78-A1E4-3500-8C77-0AE6B66709DB}"/>
          </ac:spMkLst>
        </pc:spChg>
      </pc:sldChg>
      <pc:sldChg chg="modSp">
        <pc:chgData name="Avighna Reddy Katipally-[BL.EN.U4AID23005]" userId="S::bl.en.u4aid23005@bl.students.amrita.edu::79f96f2b-dbc7-4fa5-b3b3-84108e354db1" providerId="AD" clId="Web-{00000000-0000-0000-0000-000000000000}" dt="2026-09-29T15:57:10.979" v="5" actId="20577"/>
        <pc:sldMkLst>
          <pc:docMk/>
          <pc:sldMk cId="2210272284" sldId="327"/>
        </pc:sldMkLst>
        <pc:spChg chg="mod">
          <ac:chgData name="Avighna Reddy Katipally-[BL.EN.U4AID23005]" userId="S::bl.en.u4aid23005@bl.students.amrita.edu::79f96f2b-dbc7-4fa5-b3b3-84108e354db1" providerId="AD" clId="Web-{00000000-0000-0000-0000-000000000000}" dt="2026-09-29T15:57:10.979" v="5" actId="20577"/>
          <ac:spMkLst>
            <pc:docMk/>
            <pc:sldMk cId="2210272284" sldId="327"/>
            <ac:spMk id="4" creationId="{D692EC06-80C7-10A5-F981-C9B6A69957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9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3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4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60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72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8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9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0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pic>
        <p:nvPicPr>
          <p:cNvPr id="4" name="image.png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38100"/>
            <a:ext cx="11049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692" y="381000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61307" marR="0" indent="-20410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00150" marR="0" indent="-28575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600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828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400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972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4544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9116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7-022-01881-7" TargetMode="External"/><Relationship Id="rId2" Type="http://schemas.openxmlformats.org/officeDocument/2006/relationships/hyperlink" Target="http://shttps/search.kg.ebrains.eu/instances/cae85bcb-8526-442d-b0d8-a866425efff8" TargetMode="Externa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12916-026-04911-y" TargetMode="External"/><Relationship Id="rId2" Type="http://schemas.openxmlformats.org/officeDocument/2006/relationships/hyperlink" Target="https://doi.org/10.48550/arXiv.2511.16333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31" name="Z-SPA"/>
          <p:cNvSpPr txBox="1">
            <a:spLocks noGrp="1"/>
          </p:cNvSpPr>
          <p:nvPr>
            <p:ph type="title"/>
          </p:nvPr>
        </p:nvSpPr>
        <p:spPr>
          <a:xfrm>
            <a:off x="723900" y="1306873"/>
            <a:ext cx="7696200" cy="1912596"/>
          </a:xfrm>
          <a:prstGeom prst="rect">
            <a:avLst/>
          </a:prstGeom>
        </p:spPr>
        <p:txBody>
          <a:bodyPr lIns="45719" tIns="45720" rIns="45719" bIns="45720" anchor="ctr">
            <a:noAutofit/>
          </a:bodyPr>
          <a:lstStyle/>
          <a:p>
            <a: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1800" dirty="0"/>
              <a:t>Multimodal World Models In Healthcare Using Joint-Embedding Predictive Architecture</a:t>
            </a:r>
            <a:br>
              <a:rPr lang="en-GB" sz="1800" dirty="0"/>
            </a:br>
            <a:r>
              <a:rPr lang="en-GB" sz="1800" dirty="0"/>
              <a:t>23AID498 Project Phase 1 – Review-2 Presentation</a:t>
            </a:r>
            <a:br>
              <a:rPr lang="en-GB" sz="2600" dirty="0"/>
            </a:br>
            <a:br>
              <a:rPr lang="en-GB" sz="2600" dirty="0"/>
            </a:br>
            <a:r>
              <a:rPr lang="en-GB" sz="1800" dirty="0"/>
              <a:t>Team ID: 23UG083  Panel No. - 02</a:t>
            </a:r>
            <a:endParaRPr lang="en-US" sz="2600" b="0" dirty="0"/>
          </a:p>
        </p:txBody>
      </p:sp>
      <p:sp>
        <p:nvSpPr>
          <p:cNvPr id="13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graphicFrame>
        <p:nvGraphicFramePr>
          <p:cNvPr id="137" name="Table"/>
          <p:cNvGraphicFramePr/>
          <p:nvPr>
            <p:extLst>
              <p:ext uri="{D42A27DB-BD31-4B8C-83A1-F6EECF244321}">
                <p14:modId xmlns:p14="http://schemas.microsoft.com/office/powerpoint/2010/main" val="2623144031"/>
              </p:ext>
            </p:extLst>
          </p:nvPr>
        </p:nvGraphicFramePr>
        <p:xfrm>
          <a:off x="582654" y="3311645"/>
          <a:ext cx="7983372" cy="115186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65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Reg.No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Branch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BL.EN.U4AID23002</a:t>
                      </a:r>
                      <a:endParaRPr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Adithya Nair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AIDS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BL.EN.U4AID23005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Avighna Reddy </a:t>
                      </a:r>
                      <a:r>
                        <a:rPr lang="en-US" sz="1600" err="1">
                          <a:latin typeface="Times New Roman"/>
                          <a:ea typeface="Times New Roman"/>
                          <a:cs typeface="Times New Roman"/>
                        </a:rPr>
                        <a:t>Katipally</a:t>
                      </a:r>
                      <a:endParaRPr sz="1600" err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AIDS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2107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30638" y="5779566"/>
            <a:ext cx="92396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1781" y="5011982"/>
            <a:ext cx="7797263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1800" b="1"/>
              <a:t>Project Guide: Dr. Manju Venugopalan</a:t>
            </a:r>
            <a:endParaRPr lang="en-US"/>
          </a:p>
          <a:p>
            <a:r>
              <a:rPr lang="en-US" sz="1800" b="1"/>
              <a:t>                          Assistant Professor(Sl.Gr), School of Computing, Bengaluru</a:t>
            </a:r>
            <a:endParaRPr lang="en-IN" sz="1800" b="1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7DC72A-E06F-3210-8B67-C09759AAAC6D}"/>
              </a:ext>
            </a:extLst>
          </p:cNvPr>
          <p:cNvSpPr txBox="1"/>
          <p:nvPr/>
        </p:nvSpPr>
        <p:spPr>
          <a:xfrm>
            <a:off x="4990318" y="1206355"/>
            <a:ext cx="2743199" cy="3657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E90FC7-FB77-0B51-07AD-15AC55F56880}"/>
              </a:ext>
            </a:extLst>
          </p:cNvPr>
          <p:cNvSpPr txBox="1"/>
          <p:nvPr/>
        </p:nvSpPr>
        <p:spPr>
          <a:xfrm>
            <a:off x="2934729" y="407074"/>
            <a:ext cx="2743199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Mentor Approval</a:t>
            </a:r>
            <a:endParaRPr kumimoji="0" lang="en-US" sz="2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283860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41" name="Content"/>
          <p:cNvSpPr txBox="1">
            <a:spLocks noGrp="1"/>
          </p:cNvSpPr>
          <p:nvPr>
            <p:ph type="title"/>
          </p:nvPr>
        </p:nvSpPr>
        <p:spPr>
          <a:xfrm>
            <a:off x="609600" y="1371600"/>
            <a:ext cx="7772400" cy="685800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>
                <a:ea typeface="+mn-ea"/>
                <a:sym typeface="Arial"/>
              </a:rPr>
              <a:t>Problem</a:t>
            </a:r>
            <a:r>
              <a:rPr lang="en-IN" dirty="0"/>
              <a:t> Definition (edit later)</a:t>
            </a:r>
            <a:endParaRPr dirty="0"/>
          </a:p>
        </p:txBody>
      </p:sp>
      <p:sp>
        <p:nvSpPr>
          <p:cNvPr id="14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EF1C4F-A367-7082-B40A-3A674DBDF82A}"/>
              </a:ext>
            </a:extLst>
          </p:cNvPr>
          <p:cNvSpPr txBox="1"/>
          <p:nvPr/>
        </p:nvSpPr>
        <p:spPr>
          <a:xfrm>
            <a:off x="613233" y="2066830"/>
            <a:ext cx="8083147" cy="40626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500"/>
              <a:t>Generative models such as transformers, VAEs and diffusion models tend to produce outputs that seem plausible yet untrue: </a:t>
            </a:r>
          </a:p>
          <a:p>
            <a:pPr marL="628650" lvl="1" indent="-285750">
              <a:buFont typeface="Arial"/>
              <a:buChar char="•"/>
            </a:pPr>
            <a:r>
              <a:rPr lang="en-US" sz="1500"/>
              <a:t>They do not learn the dynamics of a patient's condition.</a:t>
            </a:r>
          </a:p>
          <a:p>
            <a:pPr marL="628650" lvl="1" indent="-285750">
              <a:buFont typeface="Arial"/>
              <a:buChar char="•"/>
            </a:pPr>
            <a:r>
              <a:rPr lang="en-US" sz="1500"/>
              <a:t>This leads to a risk of outputs that can mislead medical experts and harm the lives of patients.</a:t>
            </a:r>
          </a:p>
          <a:p>
            <a:pPr marL="285750" indent="-285750">
              <a:buAutoNum type="arabicPeriod"/>
            </a:pPr>
            <a:r>
              <a:rPr lang="en-US" sz="1500"/>
              <a:t>Current models tend to focus on data of only one modality: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/>
              <a:t>Clinical notes and interventions are often ignored while predicting a disease's trajectory which provide context necessary to correctly interpret a patient's condition.</a:t>
            </a:r>
          </a:p>
          <a:p>
            <a:pPr marL="285750" indent="-285750">
              <a:buAutoNum type="arabicPeriod"/>
            </a:pPr>
            <a:r>
              <a:rPr lang="en-US" sz="1500"/>
              <a:t>Models that operate on a single timepoint of a medical image lack any context about how the patient's condition evolves over time :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/>
              <a:t>Longitudinal data contains very useful information about how a patient's condition evolves over time.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/>
              <a:t>This data (with clinical notes) provides context about the effects of an intervention on a patient's condition over time.</a:t>
            </a:r>
          </a:p>
          <a:p>
            <a:pPr marL="285750" lvl="1">
              <a:buFont typeface="Arial"/>
              <a:buChar char="•"/>
            </a:pPr>
            <a:endParaRPr lang="en-US" sz="1500"/>
          </a:p>
          <a:p>
            <a:pPr marL="285750" lvl="1" indent="0"/>
            <a:r>
              <a:rPr lang="en-US" sz="1600" b="1"/>
              <a:t>Thus, there is a need for models that are grounded in the patient's dynamics, trained across multiple modalities and accurately model the evolution of the patient's condition, including its response to treatment, over time. 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Literature Survey Summary</a:t>
            </a:r>
          </a:p>
        </p:txBody>
      </p:sp>
      <p:sp>
        <p:nvSpPr>
          <p:cNvPr id="4" name="Group"/>
          <p:cNvSpPr/>
          <p:nvPr/>
        </p:nvSpPr>
        <p:spPr>
          <a:xfrm>
            <a:off x="685800" y="2034639"/>
            <a:ext cx="7772400" cy="381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/>
          <a:lstStyle/>
          <a:p>
            <a:pPr marL="285750" indent="-285750" algn="just">
              <a:buFont typeface="Arial"/>
              <a:buChar char="•"/>
            </a:pPr>
            <a:endParaRPr lang="en-US" sz="1800" dirty="0"/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Vision-language and dynamics models can support clinical decisions beyond image prediction.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Treatment-aware longitudinal data enables tumor prediction across treatments and timepoints.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Multimodal fusion improves information integration but may increase overfitting risk.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JEPA-based models learn generalizable latent medical representations.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Temporal-aware JEPA (TD-JEPA) shows that temporal information improves local representations and future-state prediction.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7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1841883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E7051-792C-8C37-05B7-643D79C86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7FCF45ED-7D8C-E63E-9583-0ED6A523DB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Research Gap &amp; Justification</a:t>
            </a:r>
          </a:p>
        </p:txBody>
      </p:sp>
      <p:sp>
        <p:nvSpPr>
          <p:cNvPr id="4" name="Group">
            <a:extLst>
              <a:ext uri="{FF2B5EF4-FFF2-40B4-BE49-F238E27FC236}">
                <a16:creationId xmlns:a16="http://schemas.microsoft.com/office/drawing/2014/main" id="{9EE564B6-80B7-8CF4-B2D0-6D31827E6323}"/>
              </a:ext>
            </a:extLst>
          </p:cNvPr>
          <p:cNvSpPr/>
          <p:nvPr/>
        </p:nvSpPr>
        <p:spPr>
          <a:xfrm>
            <a:off x="685800" y="2178801"/>
            <a:ext cx="7751806" cy="366583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t"/>
          <a:lstStyle/>
          <a:p>
            <a:pPr marL="285750" indent="-285750" algn="just">
              <a:buFont typeface="Arial"/>
              <a:buChar char="•"/>
            </a:pPr>
            <a:r>
              <a:rPr lang="en-US" sz="1800" dirty="0"/>
              <a:t>Current treatment-aware world models are mainly diffusion-based, making them compute-intensive and sample-inefficient.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Medical interventions are often not considered when predicting future tumor states from MRI.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No existing JEPA-based multimodal approach effectively models treatment-aware temporal representation using MRI + clinical text.</a:t>
            </a:r>
          </a:p>
          <a:p>
            <a:pPr algn="just">
              <a:buFont typeface="Arial"/>
              <a:buChar char="•"/>
            </a:pPr>
            <a:endParaRPr lang="en-US" sz="1800" dirty="0"/>
          </a:p>
          <a:p>
            <a:pPr algn="just"/>
            <a:r>
              <a:rPr lang="en-US" sz="1800" b="1" dirty="0"/>
              <a:t>Proposed Research Gap: </a:t>
            </a:r>
          </a:p>
          <a:p>
            <a:pPr algn="just">
              <a:buFont typeface="Arial"/>
              <a:buChar char="•"/>
            </a:pPr>
            <a:endParaRPr lang="en-US" sz="600" dirty="0"/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A computationally efficient, treatment-aware multimodal world model is needed to learn longitudinal tumor progression from MRI and clinical information.</a:t>
            </a:r>
          </a:p>
          <a:p>
            <a:pPr marL="285750" indent="-285750" algn="just">
              <a:buFont typeface="Arial"/>
              <a:buChar char="•"/>
            </a:pPr>
            <a:endParaRPr lang="en-US" sz="1800" dirty="0"/>
          </a:p>
          <a:p>
            <a:pPr marL="285750" indent="-285750" algn="just">
              <a:buFont typeface="Arial"/>
              <a:buChar char="•"/>
            </a:pPr>
            <a:endParaRPr lang="en-US" sz="1800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7A7AE87-C041-E800-346A-E47B2CC1B57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7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470295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953589" y="1010911"/>
            <a:ext cx="7315200" cy="88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ctr"/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IN" sz="3200">
                <a:latin typeface="Times New Roman"/>
                <a:cs typeface="Times New Roman"/>
              </a:rPr>
              <a:t>Data Set Candidates</a:t>
            </a:r>
            <a:endParaRPr lang="en-IN" sz="240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7337" y="1781729"/>
            <a:ext cx="8120743" cy="5078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000" b="1" dirty="0">
                <a:solidFill>
                  <a:schemeClr val="tx1"/>
                </a:solidFill>
              </a:rPr>
              <a:t>SAILOR (v1)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IN" sz="2400" dirty="0">
                <a:solidFill>
                  <a:schemeClr val="tx1"/>
                </a:solidFill>
              </a:rPr>
              <a:t>Source of data set: </a:t>
            </a:r>
            <a:r>
              <a:rPr lang="en-IN" sz="20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https://search.kg.ebrains.eu/instances/cae85bcb-8526-442d-b0d8-a866425efff8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27 Patients with high-grade glioma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3-19 timepoint scans per patient during chemotherapy/chemoradiotherapy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Contains Structural and Functional MRI data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Annotations containing treatment status per timepoint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sz="2000" b="1" dirty="0">
                <a:solidFill>
                  <a:schemeClr val="tx1"/>
                </a:solidFill>
              </a:rPr>
              <a:t>LUMIERE </a:t>
            </a:r>
            <a:br>
              <a:rPr lang="en-IN" sz="2000" b="1" dirty="0"/>
            </a:br>
            <a:r>
              <a:rPr lang="en-IN" sz="2000" dirty="0">
                <a:solidFill>
                  <a:schemeClr val="tx1"/>
                </a:solidFill>
              </a:rPr>
              <a:t>Source of data set: </a:t>
            </a:r>
            <a:r>
              <a:rPr lang="en-IN" sz="20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https://www.nature.com/articles/s41597-022-01881-7</a:t>
            </a:r>
            <a:endParaRPr lang="en-IN" sz="2000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91 Patients with Glioblastoma 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Clinical and pathology data, radiomics features, MRI acquisition information, the expert RANO rating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Contains structural MRI data only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Less detailed treatment info (no dose maps)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IN" sz="200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IN" sz="2000">
              <a:solidFill>
                <a:schemeClr val="tx1"/>
              </a:solidFill>
            </a:endParaRP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764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4806806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EA6AF-6381-3EF2-FCEF-5D92B75E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9B481D6-A639-A872-074C-77DD68D5CFAA}"/>
              </a:ext>
            </a:extLst>
          </p:cNvPr>
          <p:cNvSpPr txBox="1">
            <a:spLocks/>
          </p:cNvSpPr>
          <p:nvPr/>
        </p:nvSpPr>
        <p:spPr>
          <a:xfrm>
            <a:off x="953589" y="1010911"/>
            <a:ext cx="7315200" cy="88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ctr"/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IN" sz="3200" dirty="0">
                <a:latin typeface="Times New Roman"/>
                <a:cs typeface="Times New Roman"/>
              </a:rPr>
              <a:t>Data Set Sample (needed ?)</a:t>
            </a:r>
            <a:endParaRPr lang="en-IN" sz="24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0A32BE1B-23BC-986D-EFEF-BC1D8328651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14</a:t>
            </a:r>
          </a:p>
        </p:txBody>
      </p:sp>
      <p:pic>
        <p:nvPicPr>
          <p:cNvPr id="2" name="Picture 1" descr="A review of structural magnetic resonance neuroimaging | Journal of Neurology, Neurosurgery &amp; Psychiatry">
            <a:extLst>
              <a:ext uri="{FF2B5EF4-FFF2-40B4-BE49-F238E27FC236}">
                <a16:creationId xmlns:a16="http://schemas.microsoft.com/office/drawing/2014/main" id="{02328A0A-C6C9-C170-F032-4A18A184D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746" y="2048261"/>
            <a:ext cx="2724863" cy="32316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FDB26B3-0271-D6D1-3872-D32EF8B5A583}"/>
              </a:ext>
            </a:extLst>
          </p:cNvPr>
          <p:cNvSpPr/>
          <p:nvPr/>
        </p:nvSpPr>
        <p:spPr>
          <a:xfrm>
            <a:off x="659552" y="2174802"/>
            <a:ext cx="3429477" cy="3109723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5CB84-89DE-1B24-4A18-74ED4ACE8E0E}"/>
              </a:ext>
            </a:extLst>
          </p:cNvPr>
          <p:cNvSpPr txBox="1"/>
          <p:nvPr/>
        </p:nvSpPr>
        <p:spPr>
          <a:xfrm>
            <a:off x="14874" y="2373358"/>
            <a:ext cx="4722988" cy="2862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IN" sz="2000">
                <a:solidFill>
                  <a:schemeClr val="tx1"/>
                </a:solidFill>
              </a:rPr>
              <a:t>Patient: 001</a:t>
            </a:r>
            <a:endParaRPr lang="en-US" sz="2000">
              <a:solidFill>
                <a:schemeClr val="tx1"/>
              </a:solidFill>
            </a:endParaRPr>
          </a:p>
          <a:p>
            <a:pPr algn="ctr"/>
            <a:r>
              <a:rPr lang="en-IN" sz="2000">
                <a:solidFill>
                  <a:schemeClr val="tx1"/>
                </a:solidFill>
              </a:rPr>
              <a:t>Survival time (weeks): 89</a:t>
            </a:r>
          </a:p>
          <a:p>
            <a:pPr algn="ctr"/>
            <a:r>
              <a:rPr lang="en-IN" sz="2000">
                <a:solidFill>
                  <a:schemeClr val="tx1"/>
                </a:solidFill>
              </a:rPr>
              <a:t>Sex: female</a:t>
            </a:r>
          </a:p>
          <a:p>
            <a:pPr algn="ctr"/>
            <a:r>
              <a:rPr lang="en-IN" sz="2000">
                <a:solidFill>
                  <a:schemeClr val="tx1"/>
                </a:solidFill>
              </a:rPr>
              <a:t>Age at surgery (years): 57</a:t>
            </a:r>
          </a:p>
          <a:p>
            <a:pPr algn="ctr"/>
            <a:r>
              <a:rPr lang="en-IN" sz="2000">
                <a:solidFill>
                  <a:schemeClr val="tx1"/>
                </a:solidFill>
              </a:rPr>
              <a:t>IDH (WT: wild type): WT</a:t>
            </a:r>
          </a:p>
          <a:p>
            <a:pPr algn="ctr"/>
            <a:r>
              <a:rPr lang="en-IN" sz="2000">
                <a:solidFill>
                  <a:schemeClr val="tx1"/>
                </a:solidFill>
              </a:rPr>
              <a:t>IDH method: BES</a:t>
            </a:r>
          </a:p>
          <a:p>
            <a:pPr algn="ctr"/>
            <a:r>
              <a:rPr lang="en-IN" sz="2000">
                <a:solidFill>
                  <a:schemeClr val="tx1"/>
                </a:solidFill>
              </a:rPr>
              <a:t>MGMT qualitative: methylated</a:t>
            </a:r>
          </a:p>
          <a:p>
            <a:pPr algn="ctr"/>
            <a:endParaRPr lang="en-IN" sz="2000">
              <a:solidFill>
                <a:schemeClr val="tx1"/>
              </a:solidFill>
            </a:endParaRPr>
          </a:p>
          <a:p>
            <a:pPr algn="ctr"/>
            <a:endParaRPr lang="en-IN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B0621-F4BD-2235-6601-EF5625C12C8A}"/>
              </a:ext>
            </a:extLst>
          </p:cNvPr>
          <p:cNvSpPr txBox="1"/>
          <p:nvPr/>
        </p:nvSpPr>
        <p:spPr>
          <a:xfrm>
            <a:off x="1006021" y="5339663"/>
            <a:ext cx="2743199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Clinical Metadata Sample</a:t>
            </a:r>
            <a:endParaRPr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36EB3F-6225-4139-E94C-A7F8DE9E0493}"/>
              </a:ext>
            </a:extLst>
          </p:cNvPr>
          <p:cNvSpPr txBox="1"/>
          <p:nvPr/>
        </p:nvSpPr>
        <p:spPr>
          <a:xfrm>
            <a:off x="5410986" y="5282393"/>
            <a:ext cx="2743199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MRI Sample</a:t>
            </a:r>
          </a:p>
        </p:txBody>
      </p:sp>
    </p:spTree>
    <p:extLst>
      <p:ext uri="{BB962C8B-B14F-4D97-AF65-F5344CB8AC3E}">
        <p14:creationId xmlns:p14="http://schemas.microsoft.com/office/powerpoint/2010/main" val="84801442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FDA08-4F96-E541-A388-EEFDA873F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401E0A63-0618-F4EB-B971-2D181C2D4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Architecture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69D642-6B0F-5013-A336-6AED3D31880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34C9C-4A6D-BF20-FC78-A455178B91DF}"/>
              </a:ext>
            </a:extLst>
          </p:cNvPr>
          <p:cNvSpPr txBox="1"/>
          <p:nvPr/>
        </p:nvSpPr>
        <p:spPr>
          <a:xfrm>
            <a:off x="679711" y="2336551"/>
            <a:ext cx="7938011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Same diagram with the changes</a:t>
            </a:r>
          </a:p>
          <a:p>
            <a:endParaRPr lang="en-US" sz="1800" dirty="0"/>
          </a:p>
          <a:p>
            <a:pPr marL="285750" indent="-285750">
              <a:buFont typeface="Calibri"/>
              <a:buChar char="-"/>
            </a:pPr>
            <a:r>
              <a:rPr lang="en-US" sz="1800" dirty="0" err="1"/>
              <a:t>Brainaic</a:t>
            </a:r>
            <a:r>
              <a:rPr lang="en-US" sz="1800" dirty="0"/>
              <a:t> , LoRa</a:t>
            </a:r>
          </a:p>
        </p:txBody>
      </p:sp>
    </p:spTree>
    <p:extLst>
      <p:ext uri="{BB962C8B-B14F-4D97-AF65-F5344CB8AC3E}">
        <p14:creationId xmlns:p14="http://schemas.microsoft.com/office/powerpoint/2010/main" val="177921854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ECFEE-9496-DBDC-F046-706AA876F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3E226370-FD32-27DD-DF96-735FC47C72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I</a:t>
            </a:r>
            <a:r>
              <a:rPr lang="en-IN" sz="2900" dirty="0"/>
              <a:t>mplementation: Data Processing</a:t>
            </a:r>
            <a:endParaRPr lang="en-IN" sz="3200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F7B25F69-0544-814B-6D2F-FEE314D0AE7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C3BC10-B2AC-CBD8-403F-92FD30F50044}"/>
              </a:ext>
            </a:extLst>
          </p:cNvPr>
          <p:cNvSpPr txBox="1"/>
          <p:nvPr/>
        </p:nvSpPr>
        <p:spPr>
          <a:xfrm>
            <a:off x="658246" y="2057509"/>
            <a:ext cx="7938011" cy="31393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LUMIERE MRI data is downloaded and organized patient-wise and visit-wise.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Clinical information is integrated using: </a:t>
            </a:r>
          </a:p>
          <a:p>
            <a:pPr marL="342900" lvl="1" indent="-342900">
              <a:buFont typeface="Courier New"/>
              <a:buChar char="o"/>
            </a:pPr>
            <a:r>
              <a:rPr lang="en-US" sz="1800" dirty="0"/>
              <a:t>RANO ratings </a:t>
            </a:r>
          </a:p>
          <a:p>
            <a:pPr marL="342900" lvl="1" indent="-342900">
              <a:buFont typeface="Courier New"/>
              <a:buChar char="o"/>
            </a:pPr>
            <a:r>
              <a:rPr lang="en-US" sz="1800" dirty="0"/>
              <a:t>Demographics </a:t>
            </a:r>
          </a:p>
          <a:p>
            <a:pPr marL="342900" lvl="1" indent="-342900">
              <a:buFont typeface="Courier New"/>
              <a:buChar char="o"/>
            </a:pPr>
            <a:r>
              <a:rPr lang="en-US" sz="1800" dirty="0"/>
              <a:t>MRI acquisition parameters </a:t>
            </a:r>
          </a:p>
          <a:p>
            <a:pPr marL="342900" lvl="1" indent="-342900">
              <a:buFont typeface="Courier New"/>
              <a:buChar char="o"/>
            </a:pPr>
            <a:r>
              <a:rPr lang="en-US" sz="1800" dirty="0"/>
              <a:t>Sequence availability </a:t>
            </a:r>
          </a:p>
          <a:p>
            <a:pPr marL="285750" lvl="1" indent="-285750">
              <a:buFont typeface="Courier New"/>
              <a:buChar char="o"/>
            </a:pP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SAILOR is maintained as an independent evaluation cohort.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Patient-level train/validation/test splitting is used to avoid patient leakage.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6818239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3B779-BB42-CD8A-DA39-345976985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286CE50A-FA4A-6AA2-1C2C-D03B77D34F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253544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 fontScale="90000"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Implementation: MRI Preprocessing Pipeline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EEA34DD-A0BB-146D-6227-FD69E42A283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18139-5FDB-22BF-EC16-4B74E0442215}"/>
              </a:ext>
            </a:extLst>
          </p:cNvPr>
          <p:cNvSpPr txBox="1"/>
          <p:nvPr/>
        </p:nvSpPr>
        <p:spPr>
          <a:xfrm>
            <a:off x="658246" y="1917988"/>
            <a:ext cx="7938011" cy="53245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Raw MRI ➜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N4 Bias Field Correction:</a:t>
            </a:r>
            <a:r>
              <a:rPr lang="en-US" sz="2000" dirty="0"/>
              <a:t> reduces intensity inhomogeneity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1 mm Isotropic Resampling:</a:t>
            </a:r>
            <a:r>
              <a:rPr lang="en-US" sz="2000" dirty="0"/>
              <a:t> standardizes voxel spacing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Rigid MNI Registration:</a:t>
            </a:r>
            <a:r>
              <a:rPr lang="en-US" sz="2000" dirty="0"/>
              <a:t> aligns scans spatially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HD-BET Skull Stripping</a:t>
            </a:r>
            <a:r>
              <a:rPr lang="en-US" sz="2000" dirty="0"/>
              <a:t>: removes non-brain regions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96 × 96 × 96 Volume:</a:t>
            </a:r>
            <a:r>
              <a:rPr lang="en-US" sz="2000" dirty="0"/>
              <a:t> standardizes model input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Non-zero Z-score Normalization:</a:t>
            </a:r>
            <a:r>
              <a:rPr lang="en-US" sz="2000" dirty="0"/>
              <a:t> reduces intensity variation between scans</a:t>
            </a:r>
          </a:p>
          <a:p>
            <a:r>
              <a:rPr lang="en-US" sz="2000" dirty="0"/>
              <a:t>➜ BRAINIAC Input</a:t>
            </a:r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Preprocessing makes MRI data compatible with the BRAINIAC backbone through spatial registration and intensity normalization.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It prevents the model from confusing scanner variations with actual biological tumor progression.</a:t>
            </a:r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0985304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B2F77-4A79-5996-EC78-5F0982295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8F367CE6-1F84-1019-054B-665FAC68E0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Implementation Details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1C4F4BC8-8167-F4DD-B849-F93DF797FF1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F0673-A78A-2FE7-99E9-EFD16F025945}"/>
              </a:ext>
            </a:extLst>
          </p:cNvPr>
          <p:cNvSpPr txBox="1"/>
          <p:nvPr/>
        </p:nvSpPr>
        <p:spPr>
          <a:xfrm>
            <a:off x="658246" y="2057509"/>
            <a:ext cx="7938011" cy="44012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MRI Feature Extraction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BRAINIAC 3D </a:t>
            </a:r>
            <a:r>
              <a:rPr lang="en-US" sz="2000" i="1" dirty="0" err="1"/>
              <a:t>ViT</a:t>
            </a:r>
            <a:r>
              <a:rPr lang="en-US" sz="2000" i="1" dirty="0"/>
              <a:t>-B</a:t>
            </a:r>
            <a:r>
              <a:rPr lang="en-US" sz="2000" dirty="0"/>
              <a:t> is used as the MRI backbone.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Each MRI sequence is converted into a latent representation. 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 err="1"/>
              <a:t>LoRA</a:t>
            </a:r>
            <a:r>
              <a:rPr lang="en-US" sz="2000" dirty="0"/>
              <a:t> is used to adapt the pretrained backbone instead of training the entire model from scratch.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Per-sequence representations are subsequently combined with clinical features</a:t>
            </a:r>
          </a:p>
          <a:p>
            <a:endParaRPr lang="en-US" sz="2000" dirty="0"/>
          </a:p>
          <a:p>
            <a:r>
              <a:rPr lang="en-US" sz="2000" b="1" dirty="0"/>
              <a:t>Clinical Feature Encoding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Clinical variables are processed using dedicated </a:t>
            </a:r>
            <a:r>
              <a:rPr lang="en-US" sz="2000" i="1" dirty="0"/>
              <a:t>MLP encoders</a:t>
            </a:r>
            <a:r>
              <a:rPr lang="en-US" sz="2000" dirty="0"/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Clinical information provides additional context about the patient's condition.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MRI and clinical representations are fused before temporal modelling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1861186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A7FA8-9A1F-1382-4ECD-B92AE8A5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57017BC3-D877-34BB-4654-216E0F8F21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Implementation Details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4328802-8F9A-D9C6-025D-26583A05278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C58019-BB7D-BB99-427F-5AB502D22128}"/>
              </a:ext>
            </a:extLst>
          </p:cNvPr>
          <p:cNvSpPr txBox="1"/>
          <p:nvPr/>
        </p:nvSpPr>
        <p:spPr>
          <a:xfrm>
            <a:off x="658246" y="2057509"/>
            <a:ext cx="7938011" cy="39703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Temporal Modelling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Representations from multiple visits are arranged chronologically.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 Temporal Transformer learns dependencies between visits. </a:t>
            </a:r>
          </a:p>
          <a:p>
            <a:pPr marL="285750" indent="-285750">
              <a:buFont typeface="Arial"/>
              <a:buChar char="•"/>
            </a:pPr>
            <a:r>
              <a:rPr lang="en-US" sz="1800" i="1" dirty="0"/>
              <a:t>Time-delta encoding </a:t>
            </a:r>
            <a:r>
              <a:rPr lang="en-US" sz="1800" dirty="0"/>
              <a:t>(</a:t>
            </a:r>
            <a:r>
              <a:rPr lang="en-US" sz="1800" b="1" dirty="0" err="1"/>
              <a:t>Δt</a:t>
            </a:r>
            <a:r>
              <a:rPr lang="en-US" sz="1800" dirty="0"/>
              <a:t>) tells the model how much time has passed between consecutive scans.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The resulting representation captures the patient's longitudinal state. </a:t>
            </a:r>
          </a:p>
          <a:p>
            <a:endParaRPr lang="en-US" sz="1800" dirty="0"/>
          </a:p>
          <a:p>
            <a:r>
              <a:rPr lang="en-US" sz="1800" b="1" dirty="0"/>
              <a:t>JEPA Training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The temporal model predicts the latent representation of the next MRI visit.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 separate EMA target encoder generates the target representation from the actual future MRI.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 cosine JEPA loss aligns predicted and target representations.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The model is trained to predict future latent states rather than future pixels.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9533906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CBB50-60FF-8B0C-C7AA-F19B0AA5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CBE65D63-73D6-5944-5FC5-CBF197755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Initial JEPA Results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D3E3CE9-1177-9058-56D7-9A5F3F6F6AB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98B429-17CF-6F71-6BDD-E809354001DE}"/>
              </a:ext>
            </a:extLst>
          </p:cNvPr>
          <p:cNvSpPr txBox="1"/>
          <p:nvPr/>
        </p:nvSpPr>
        <p:spPr>
          <a:xfrm>
            <a:off x="679711" y="2336551"/>
            <a:ext cx="793801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 err="1"/>
              <a:t>ahhhhhhhhh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4167536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F81D-BCB1-F608-C4ED-A700CC78A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40FCDAE6-2739-4460-8C31-07EEA0F2E5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Lesion-Aware Approach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F01DADD4-F8E1-3C93-1294-8606B00A969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2EC06-80C7-10A5-F981-C9B6A69957EF}"/>
              </a:ext>
            </a:extLst>
          </p:cNvPr>
          <p:cNvSpPr txBox="1"/>
          <p:nvPr/>
        </p:nvSpPr>
        <p:spPr>
          <a:xfrm>
            <a:off x="679711" y="2336551"/>
            <a:ext cx="793801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 err="1"/>
              <a:t>ahhhhhh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21027228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09DDD-B7C7-7B1D-03B2-B73B61E41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105520A5-2066-185F-C693-67CA2F1847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Results 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71B8083-9E90-1627-EB3A-5CBE2020DE8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947E73-547E-45C5-374B-80087D21B9A1}"/>
              </a:ext>
            </a:extLst>
          </p:cNvPr>
          <p:cNvSpPr txBox="1"/>
          <p:nvPr/>
        </p:nvSpPr>
        <p:spPr>
          <a:xfrm>
            <a:off x="679711" y="2336551"/>
            <a:ext cx="7938011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Key findings:</a:t>
            </a:r>
            <a:endParaRPr lang="en-US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1248060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349C1-7E36-F6A8-31F4-99657BD1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18F66F38-C3E8-205A-1B82-88401FCBC1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Conclusion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6C2C163-D1EB-0200-1801-6733A812624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F7D78-A1E4-3500-8C77-0AE6B66709DB}"/>
              </a:ext>
            </a:extLst>
          </p:cNvPr>
          <p:cNvSpPr txBox="1"/>
          <p:nvPr/>
        </p:nvSpPr>
        <p:spPr>
          <a:xfrm>
            <a:off x="679711" y="2336551"/>
            <a:ext cx="793801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 err="1"/>
              <a:t>ahhhhhhhhhhh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12249804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6" y="2809149"/>
            <a:ext cx="8229600" cy="1508126"/>
          </a:xfrm>
        </p:spPr>
        <p:txBody>
          <a:bodyPr/>
          <a:lstStyle/>
          <a:p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A96B-8B05-BD49-B6F0-8D4DA60AFD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319498" y="381000"/>
            <a:ext cx="291103" cy="307777"/>
          </a:xfrm>
        </p:spPr>
        <p:txBody>
          <a:bodyPr wrap="none" lIns="45719" tIns="45720" rIns="45719" bIns="45720">
            <a:spAutoFit/>
          </a:bodyPr>
          <a:lstStyle/>
          <a:p>
            <a:r>
              <a:rPr lang="en-IN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29017277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E4823C-894B-2E44-C9E0-0185CA10FF0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GB"/>
              <a:t>18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5B7575-3459-C041-7120-97191EB55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9217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5A615-3363-0ED3-567B-97E2E374F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860FA0-7146-94F3-D1A8-F770D8F662D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GB"/>
              <a:t>19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038666-B655-04BD-29A3-AE7FD86D8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20543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2D82-46EE-2093-23DE-59DF4F1A5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146BAA89-B74B-EE35-7828-5DD58A0AF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5240" y="27432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Architecture of the Proposed System</a:t>
            </a:r>
            <a:endParaRPr sz="320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1FB37A6-CE63-6151-FB8A-912ED19A837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19</a:t>
            </a: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433F07-C205-B3F3-E4BD-1F394CE7429C}"/>
              </a:ext>
            </a:extLst>
          </p:cNvPr>
          <p:cNvSpPr/>
          <p:nvPr/>
        </p:nvSpPr>
        <p:spPr>
          <a:xfrm>
            <a:off x="330926" y="1082041"/>
            <a:ext cx="8813074" cy="5338353"/>
          </a:xfrm>
          <a:prstGeom prst="rect">
            <a:avLst/>
          </a:prstGeom>
          <a:solidFill>
            <a:schemeClr val="bg1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C2BE2A-B218-CA98-FCF3-FCBBFE551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4377"/>
            <a:ext cx="9144000" cy="396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1188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5D8E2-4561-8518-A880-7B1F6216E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E07BEDCC-863B-F67D-1C6B-ACE2531B6F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5240" y="27432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Architecture of the Proposed System</a:t>
            </a:r>
            <a:endParaRPr sz="320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0BE6414-01A8-588B-021F-1EF78D0391E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7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20</a:t>
            </a: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9773B5-2801-C221-8517-27A38963DFDA}"/>
              </a:ext>
            </a:extLst>
          </p:cNvPr>
          <p:cNvSpPr txBox="1"/>
          <p:nvPr/>
        </p:nvSpPr>
        <p:spPr>
          <a:xfrm>
            <a:off x="2675627" y="1323515"/>
            <a:ext cx="408425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Downstream Task 1 – </a:t>
            </a:r>
            <a:r>
              <a:rPr lang="en-US" err="1"/>
              <a:t>Tumour</a:t>
            </a:r>
            <a:r>
              <a:rPr lang="en-US"/>
              <a:t> Volume Prediction 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ABE76E-8D33-0BBC-DD20-7C79DA7E7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107" y="1714906"/>
            <a:ext cx="4959168" cy="420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3152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E7F40-E71F-1134-4409-8962A369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1158B15E-E685-CCFA-D71E-0B33C9CAC3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5240" y="27432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Architecture </a:t>
            </a:r>
            <a:endParaRPr sz="3200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0E1AD-AACF-8F98-AF31-AA025DDA12D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21</a:t>
            </a: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5D375B-A32A-9759-3347-8824D649F0F3}"/>
              </a:ext>
            </a:extLst>
          </p:cNvPr>
          <p:cNvSpPr txBox="1"/>
          <p:nvPr/>
        </p:nvSpPr>
        <p:spPr>
          <a:xfrm>
            <a:off x="2675627" y="1323515"/>
            <a:ext cx="408425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Downstream Task 2 – RANO Classification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43EC71-F01F-0789-5A30-BBD8023D2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697" y="1631224"/>
            <a:ext cx="5394961" cy="448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78261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99A92-B241-751E-B86F-C00FE97C1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lide Number">
            <a:extLst>
              <a:ext uri="{FF2B5EF4-FFF2-40B4-BE49-F238E27FC236}">
                <a16:creationId xmlns:a16="http://schemas.microsoft.com/office/drawing/2014/main" id="{C2F7E675-881C-D176-9CF7-6DB3ED12D95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7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29</a:t>
            </a:r>
            <a:endParaRPr/>
          </a:p>
        </p:txBody>
      </p:sp>
      <p:sp>
        <p:nvSpPr>
          <p:cNvPr id="210" name="References">
            <a:extLst>
              <a:ext uri="{FF2B5EF4-FFF2-40B4-BE49-F238E27FC236}">
                <a16:creationId xmlns:a16="http://schemas.microsoft.com/office/drawing/2014/main" id="{EC755970-7441-9F08-54DC-3A78DA1DF6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7537" y="103632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320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7C8BA2-B3E0-C5CA-C12D-DBBA8B440A31}"/>
              </a:ext>
            </a:extLst>
          </p:cNvPr>
          <p:cNvSpPr txBox="1"/>
          <p:nvPr/>
        </p:nvSpPr>
        <p:spPr>
          <a:xfrm>
            <a:off x="543683" y="1844358"/>
            <a:ext cx="8184776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GB" sz="1600">
                <a:solidFill>
                  <a:srgbClr val="FF0000"/>
                </a:solidFill>
              </a:rPr>
              <a:t>M. A. Qazi, M. Nadeem, and M. Yaqub, “Beyond Generative AI: World Models for Clinical Prediction, Counterfactuals, and Planning,” Nov. 20, 2025, </a:t>
            </a:r>
            <a:r>
              <a:rPr lang="en-GB" sz="1600" i="1" err="1">
                <a:solidFill>
                  <a:srgbClr val="FF0000"/>
                </a:solidFill>
              </a:rPr>
              <a:t>arXiv</a:t>
            </a:r>
            <a:r>
              <a:rPr lang="en-GB" sz="1600">
                <a:solidFill>
                  <a:srgbClr val="FF0000"/>
                </a:solidFill>
              </a:rPr>
              <a:t>: arXiv:2511.16333. </a:t>
            </a:r>
            <a:r>
              <a:rPr lang="en-GB" sz="1600" err="1">
                <a:solidFill>
                  <a:srgbClr val="FF0000"/>
                </a:solidFill>
              </a:rPr>
              <a:t>doi</a:t>
            </a:r>
            <a:r>
              <a:rPr lang="en-GB" sz="1600">
                <a:solidFill>
                  <a:srgbClr val="FF0000"/>
                </a:solidFill>
              </a:rPr>
              <a:t>: </a:t>
            </a:r>
            <a:r>
              <a:rPr lang="en-GB" sz="1600">
                <a:solidFill>
                  <a:srgbClr val="FF0000"/>
                </a:solidFill>
                <a:hlinkClick r:id="rId2"/>
              </a:rPr>
              <a:t>10.48550/arXiv.2511.16333</a:t>
            </a:r>
            <a:r>
              <a:rPr lang="en-GB" sz="1600">
                <a:solidFill>
                  <a:srgbClr val="FF0000"/>
                </a:solidFill>
              </a:rPr>
              <a:t>.</a:t>
            </a:r>
          </a:p>
          <a:p>
            <a:pPr algn="r"/>
            <a:r>
              <a:rPr lang="en-GB" sz="1600">
                <a:solidFill>
                  <a:srgbClr val="FF0000"/>
                </a:solidFill>
              </a:rPr>
              <a:t>[9]</a:t>
            </a:r>
          </a:p>
          <a:p>
            <a:pPr algn="just"/>
            <a:r>
              <a:rPr lang="en-GB" sz="1600">
                <a:solidFill>
                  <a:srgbClr val="FF0000"/>
                </a:solidFill>
              </a:rPr>
              <a:t>Y. Yue, Y. Wang, C. Tao, P. Liu, S. Song, and G. Huang, “</a:t>
            </a:r>
            <a:r>
              <a:rPr lang="en-GB" sz="1600" err="1">
                <a:solidFill>
                  <a:srgbClr val="FF0000"/>
                </a:solidFill>
              </a:rPr>
              <a:t>CheXWorld</a:t>
            </a:r>
            <a:r>
              <a:rPr lang="en-GB" sz="1600">
                <a:solidFill>
                  <a:srgbClr val="FF0000"/>
                </a:solidFill>
              </a:rPr>
              <a:t>: Exploring Image World </a:t>
            </a:r>
            <a:r>
              <a:rPr lang="en-GB" sz="1600" err="1">
                <a:solidFill>
                  <a:srgbClr val="FF0000"/>
                </a:solidFill>
              </a:rPr>
              <a:t>Modeling</a:t>
            </a:r>
            <a:r>
              <a:rPr lang="en-GB" sz="1600">
                <a:solidFill>
                  <a:srgbClr val="FF0000"/>
                </a:solidFill>
              </a:rPr>
              <a:t> for Radiograph Representation Learning”.</a:t>
            </a:r>
          </a:p>
          <a:p>
            <a:pPr algn="r"/>
            <a:r>
              <a:rPr lang="en-GB" sz="1600">
                <a:solidFill>
                  <a:srgbClr val="FF0000"/>
                </a:solidFill>
              </a:rPr>
              <a:t>[10]</a:t>
            </a:r>
          </a:p>
          <a:p>
            <a:pPr algn="just"/>
            <a:r>
              <a:rPr lang="en-GB" sz="1600">
                <a:solidFill>
                  <a:srgbClr val="FF0000"/>
                </a:solidFill>
              </a:rPr>
              <a:t>S. Huisman, N. Belkacemi, V. Keil, J. Verhoeff, and S. David, “Rectified flow-based prediction of post-treatment brain MRI from pre-radiotherapy priors for patients with glioma,” </a:t>
            </a:r>
            <a:r>
              <a:rPr lang="en-GB" sz="1600" i="1">
                <a:solidFill>
                  <a:srgbClr val="FF0000"/>
                </a:solidFill>
              </a:rPr>
              <a:t>Rectified flow-based prediction of post-treatment brain MRI from pre-radiotherapy priors for patients with glioma</a:t>
            </a:r>
            <a:r>
              <a:rPr lang="en-GB" sz="1600">
                <a:solidFill>
                  <a:srgbClr val="FF0000"/>
                </a:solidFill>
              </a:rPr>
              <a:t>, Mar. 2026.</a:t>
            </a:r>
          </a:p>
          <a:p>
            <a:pPr algn="r"/>
            <a:r>
              <a:rPr lang="en-GB" sz="1600">
                <a:solidFill>
                  <a:srgbClr val="FF0000"/>
                </a:solidFill>
              </a:rPr>
              <a:t>[11]</a:t>
            </a:r>
          </a:p>
          <a:p>
            <a:pPr algn="just"/>
            <a:r>
              <a:rPr lang="en-GB" sz="1600">
                <a:solidFill>
                  <a:srgbClr val="FF0000"/>
                </a:solidFill>
              </a:rPr>
              <a:t>D. Laslo </a:t>
            </a:r>
            <a:r>
              <a:rPr lang="en-GB" sz="1600" i="1">
                <a:solidFill>
                  <a:srgbClr val="FF0000"/>
                </a:solidFill>
              </a:rPr>
              <a:t>et al.</a:t>
            </a:r>
            <a:r>
              <a:rPr lang="en-GB" sz="1600">
                <a:solidFill>
                  <a:srgbClr val="FF0000"/>
                </a:solidFill>
              </a:rPr>
              <a:t>, “Generative AI for spatial </a:t>
            </a:r>
            <a:r>
              <a:rPr lang="en-GB" sz="1600" err="1">
                <a:solidFill>
                  <a:srgbClr val="FF0000"/>
                </a:solidFill>
              </a:rPr>
              <a:t>tumor</a:t>
            </a:r>
            <a:r>
              <a:rPr lang="en-GB" sz="1600">
                <a:solidFill>
                  <a:srgbClr val="FF0000"/>
                </a:solidFill>
              </a:rPr>
              <a:t> growth on MRI: a proof-of-principle study in </a:t>
            </a:r>
            <a:r>
              <a:rPr lang="en-GB" sz="1600" err="1">
                <a:solidFill>
                  <a:srgbClr val="FF0000"/>
                </a:solidFill>
              </a:rPr>
              <a:t>pediatric</a:t>
            </a:r>
            <a:r>
              <a:rPr lang="en-GB" sz="1600">
                <a:solidFill>
                  <a:srgbClr val="FF0000"/>
                </a:solidFill>
              </a:rPr>
              <a:t> diffuse midline glioma,” </a:t>
            </a:r>
            <a:r>
              <a:rPr lang="en-GB" sz="1600" i="1">
                <a:solidFill>
                  <a:srgbClr val="FF0000"/>
                </a:solidFill>
              </a:rPr>
              <a:t>BMC Med</a:t>
            </a:r>
            <a:r>
              <a:rPr lang="en-GB" sz="1600">
                <a:solidFill>
                  <a:srgbClr val="FF0000"/>
                </a:solidFill>
              </a:rPr>
              <a:t>, vol. 24, no. 1, p. 389, May 2026, </a:t>
            </a:r>
            <a:r>
              <a:rPr lang="en-GB" sz="1600" err="1">
                <a:solidFill>
                  <a:srgbClr val="FF0000"/>
                </a:solidFill>
              </a:rPr>
              <a:t>doi</a:t>
            </a:r>
            <a:r>
              <a:rPr lang="en-GB" sz="1600">
                <a:solidFill>
                  <a:srgbClr val="FF0000"/>
                </a:solidFill>
              </a:rPr>
              <a:t>: </a:t>
            </a:r>
            <a:r>
              <a:rPr lang="en-GB" sz="1600">
                <a:solidFill>
                  <a:srgbClr val="FF0000"/>
                </a:solidFill>
                <a:hlinkClick r:id="rId3"/>
              </a:rPr>
              <a:t>10.1186/s12916-026-04911-y</a:t>
            </a:r>
            <a:r>
              <a:rPr lang="en-GB" sz="1600">
                <a:solidFill>
                  <a:srgbClr val="FF0000"/>
                </a:solidFill>
              </a:rPr>
              <a:t>.</a:t>
            </a:r>
          </a:p>
          <a:p>
            <a:pPr algn="just"/>
            <a:endParaRPr lang="en-GB" sz="16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00762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11_Default Design</vt:lpstr>
      <vt:lpstr>Multimodal World Models In Healthcare Using Joint-Embedding Predictive Architecture 23AID498 Project Phase 1 – Review-2 Presentation  Team ID: 23UG083  Panel No. - 02</vt:lpstr>
      <vt:lpstr>PowerPoint Presentation</vt:lpstr>
      <vt:lpstr>Problem Definition (edit later)</vt:lpstr>
      <vt:lpstr>Literature Survey Summary</vt:lpstr>
      <vt:lpstr>Research Gap &amp; Justification</vt:lpstr>
      <vt:lpstr>PowerPoint Presentation</vt:lpstr>
      <vt:lpstr>PowerPoint Presentation</vt:lpstr>
      <vt:lpstr>Architecture</vt:lpstr>
      <vt:lpstr>Implementation: Data Processing</vt:lpstr>
      <vt:lpstr>Implementation: MRI Preprocessing Pipeline</vt:lpstr>
      <vt:lpstr>Implementation Details</vt:lpstr>
      <vt:lpstr>Implementation Details</vt:lpstr>
      <vt:lpstr>Initial JEPA Results</vt:lpstr>
      <vt:lpstr>Lesion-Aware Approach</vt:lpstr>
      <vt:lpstr>Results </vt:lpstr>
      <vt:lpstr>Conclusion</vt:lpstr>
      <vt:lpstr>THANK YOU</vt:lpstr>
      <vt:lpstr>PowerPoint Presentation</vt:lpstr>
      <vt:lpstr>PowerPoint Presentation</vt:lpstr>
      <vt:lpstr>Architecture of the Proposed System</vt:lpstr>
      <vt:lpstr>Architecture of the Proposed System</vt:lpstr>
      <vt:lpstr>Architecture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revision>223</cp:revision>
  <dcterms:modified xsi:type="dcterms:W3CDTF">2026-09-29T16:02:14Z</dcterms:modified>
</cp:coreProperties>
</file>